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ommentAuthors.xml" ContentType="application/vnd.openxmlformats-officedocument.presentationml.commentAuthor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media/image16.svg" ContentType="image/svg+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56" r:id="rId5"/>
    <p:sldId id="257" r:id="rId6"/>
    <p:sldId id="258" r:id="rId7"/>
    <p:sldId id="259" r:id="rId8"/>
    <p:sldId id="260" r:id="rId9"/>
    <p:sldId id="278" r:id="rId10"/>
    <p:sldId id="274" r:id="rId11"/>
    <p:sldId id="275"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p:notesSz cx="6858000" cy="18573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3" autoAdjust="0"/>
    <p:restoredTop sz="91480" autoAdjust="0"/>
  </p:normalViewPr>
  <p:slideViewPr>
    <p:cSldViewPr snapToGrid="0">
      <p:cViewPr varScale="1">
        <p:scale>
          <a:sx n="71" d="100"/>
          <a:sy n="71" d="100"/>
        </p:scale>
        <p:origin x="43" y="202"/>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tags" Target="tags/tag1.xml"/><Relationship Id="rId27" Type="http://schemas.openxmlformats.org/officeDocument/2006/relationships/commentAuthors" Target="commentAuthors.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Job Postings</c:v>
                </c:pt>
              </c:strCache>
            </c:strRef>
          </c:tx>
          <c:spPr>
            <a:solidFill>
              <a:srgbClr val="2E867A"/>
            </a:solidFill>
            <a:ln>
              <a:noFill/>
            </a:ln>
          </c:spPr>
          <c:cat>
            <c:strRef>
              <c:f>Sheet1!$A$2:$A$6</c:f>
              <c:strCache>
                <c:ptCount val="5"/>
                <c:pt idx="0">
                  <c:v>Software Engineer</c:v>
                </c:pt>
                <c:pt idx="1">
                  <c:v>Data Analyst</c:v>
                </c:pt>
                <c:pt idx="2">
                  <c:v>Data Scientist</c:v>
                </c:pt>
                <c:pt idx="3">
                  <c:v>Data Engineer</c:v>
                </c:pt>
                <c:pt idx="4">
                  <c:v>Database Admin</c:v>
                </c:pt>
              </c:strCache>
            </c:strRef>
          </c:cat>
          <c:val>
            <c:numRef>
              <c:f>Sheet1!$B$2:$B$6</c:f>
              <c:numCache>
                <c:formatCode>General</c:formatCode>
                <c:ptCount val="5"/>
                <c:pt idx="0">
                  <c:v>28400</c:v>
                </c:pt>
                <c:pt idx="1">
                  <c:v>22100</c:v>
                </c:pt>
                <c:pt idx="2">
                  <c:v>18300</c:v>
                </c:pt>
                <c:pt idx="3">
                  <c:v>15600</c:v>
                </c:pt>
                <c:pt idx="4">
                  <c:v>8900</c:v>
                </c:pt>
              </c:numCache>
            </c:numRef>
          </c:val>
        </c:ser>
        <c:dLbls>
          <c:numFmt formatCode="#,##0" sourceLinked="0"/>
          <c:txPr>
            <a:bodyPr/>
            <a:lstStyle/>
            <a:p>
              <a:pPr>
                <a:defRPr sz="1100">
                  <a:solidFill>
                    <a:srgbClr val="404040"/>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axMin"/>
        </c:scaling>
        <c:delete val="0"/>
        <c:axPos val="l"/>
        <c:majorTickMark val="none"/>
        <c:minorTickMark val="none"/>
        <c:tickLblPos val="nextTo"/>
        <c:spPr>
          <a:ln>
            <a:solidFill>
              <a:srgbClr val="D0D0D0"/>
            </a:solidFill>
          </a:ln>
        </c:spPr>
        <c:txPr>
          <a:bodyPr/>
          <a:lstStyle/>
          <a:p>
            <a:pPr>
              <a:defRPr sz="1100">
                <a:solidFill>
                  <a:srgbClr val="404040"/>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Average Salary (USD)</c:v>
                </c:pt>
              </c:strCache>
            </c:strRef>
          </c:tx>
          <c:spPr>
            <a:solidFill>
              <a:srgbClr val="8E4EC6"/>
            </a:solidFill>
            <a:ln>
              <a:noFill/>
            </a:ln>
          </c:spPr>
          <c:cat>
            <c:strRef>
              <c:f>Sheet1!$A$2:$A$7</c:f>
              <c:strCache>
                <c:ptCount val="6"/>
                <c:pt idx="0">
                  <c:v>Scala</c:v>
                </c:pt>
                <c:pt idx="1">
                  <c:v>Go</c:v>
                </c:pt>
                <c:pt idx="2">
                  <c:v>Rust</c:v>
                </c:pt>
                <c:pt idx="3">
                  <c:v>Python</c:v>
                </c:pt>
                <c:pt idx="4">
                  <c:v>C++</c:v>
                </c:pt>
                <c:pt idx="5">
                  <c:v>Java</c:v>
                </c:pt>
              </c:strCache>
            </c:strRef>
          </c:cat>
          <c:val>
            <c:numRef>
              <c:f>Sheet1!$B$2:$B$7</c:f>
              <c:numCache>
                <c:formatCode>General</c:formatCode>
                <c:ptCount val="6"/>
                <c:pt idx="0">
                  <c:v>125000</c:v>
                </c:pt>
                <c:pt idx="1">
                  <c:v>118000</c:v>
                </c:pt>
                <c:pt idx="2">
                  <c:v>115000</c:v>
                </c:pt>
                <c:pt idx="3">
                  <c:v>108000</c:v>
                </c:pt>
                <c:pt idx="4">
                  <c:v>102000</c:v>
                </c:pt>
                <c:pt idx="5">
                  <c:v>98000</c:v>
                </c:pt>
              </c:numCache>
            </c:numRef>
          </c:val>
        </c:ser>
        <c:dLbls>
          <c:numFmt formatCode="$#,##0" sourceLinked="0"/>
          <c:txPr>
            <a:bodyPr/>
            <a:lstStyle/>
            <a:p>
              <a:pPr>
                <a:defRPr sz="1100">
                  <a:solidFill>
                    <a:srgbClr val="404040"/>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axMin"/>
        </c:scaling>
        <c:delete val="0"/>
        <c:axPos val="l"/>
        <c:majorTickMark val="none"/>
        <c:minorTickMark val="none"/>
        <c:tickLblPos val="nextTo"/>
        <c:spPr>
          <a:ln>
            <a:solidFill>
              <a:srgbClr val="D0D0D0"/>
            </a:solidFill>
          </a:ln>
        </c:spPr>
        <c:txPr>
          <a:bodyPr/>
          <a:lstStyle/>
          <a:p>
            <a:pPr>
              <a:defRPr sz="1100">
                <a:solidFill>
                  <a:srgbClr val="404040"/>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Current Year (%)</c:v>
                </c:pt>
              </c:strCache>
            </c:strRef>
          </c:tx>
          <c:spPr>
            <a:solidFill>
              <a:srgbClr val="2E867A"/>
            </a:solidFill>
            <a:ln>
              <a:noFill/>
            </a:ln>
          </c:spPr>
          <c:cat>
            <c:strRef>
              <c:f>Sheet1!$A$2:$A$9</c:f>
              <c:strCache>
                <c:ptCount val="8"/>
                <c:pt idx="0">
                  <c:v>JavaScript</c:v>
                </c:pt>
                <c:pt idx="1">
                  <c:v>HTML/CSS</c:v>
                </c:pt>
                <c:pt idx="2">
                  <c:v>Python</c:v>
                </c:pt>
                <c:pt idx="3">
                  <c:v>SQL</c:v>
                </c:pt>
                <c:pt idx="4">
                  <c:v>TypeScript</c:v>
                </c:pt>
                <c:pt idx="5">
                  <c:v>Bash/Shell</c:v>
                </c:pt>
                <c:pt idx="6">
                  <c:v>Java</c:v>
                </c:pt>
                <c:pt idx="7">
                  <c:v>C#</c:v>
                </c:pt>
              </c:strCache>
            </c:strRef>
          </c:cat>
          <c:val>
            <c:numRef>
              <c:f>Sheet1!$B$2:$B$9</c:f>
              <c:numCache>
                <c:formatCode>General</c:formatCode>
                <c:ptCount val="8"/>
                <c:pt idx="0">
                  <c:v>65</c:v>
                </c:pt>
                <c:pt idx="1">
                  <c:v>53</c:v>
                </c:pt>
                <c:pt idx="2">
                  <c:v>51</c:v>
                </c:pt>
                <c:pt idx="3">
                  <c:v>50</c:v>
                </c:pt>
                <c:pt idx="4">
                  <c:v>40</c:v>
                </c:pt>
                <c:pt idx="5">
                  <c:v>33</c:v>
                </c:pt>
                <c:pt idx="6">
                  <c:v>30</c:v>
                </c:pt>
                <c:pt idx="7">
                  <c:v>27</c:v>
                </c:pt>
              </c:numCache>
            </c:numRef>
          </c:val>
        </c:ser>
        <c:dLbls>
          <c:numFmt formatCode="0&quot;%&quot;" sourceLinked="0"/>
          <c:txPr>
            <a:bodyPr/>
            <a:lstStyle/>
            <a:p>
              <a:pPr>
                <a:defRPr sz="1100">
                  <a:solidFill>
                    <a:srgbClr val="404040"/>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axMin"/>
        </c:scaling>
        <c:delete val="0"/>
        <c:axPos val="l"/>
        <c:majorTickMark val="none"/>
        <c:minorTickMark val="none"/>
        <c:tickLblPos val="nextTo"/>
        <c:spPr>
          <a:ln>
            <a:solidFill>
              <a:srgbClr val="D0D0D0"/>
            </a:solidFill>
          </a:ln>
        </c:spPr>
        <c:txPr>
          <a:bodyPr/>
          <a:lstStyle/>
          <a:p>
            <a:pPr>
              <a:defRPr sz="1100">
                <a:solidFill>
                  <a:srgbClr val="404040"/>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Next Year (%)</c:v>
                </c:pt>
              </c:strCache>
            </c:strRef>
          </c:tx>
          <c:spPr>
            <a:solidFill>
              <a:srgbClr val="8E4EC6"/>
            </a:solidFill>
            <a:ln>
              <a:noFill/>
            </a:ln>
          </c:spPr>
          <c:cat>
            <c:strRef>
              <c:f>Sheet1!$A$2:$A$9</c:f>
              <c:strCache>
                <c:ptCount val="8"/>
                <c:pt idx="0">
                  <c:v>Python</c:v>
                </c:pt>
                <c:pt idx="1">
                  <c:v>JavaScript</c:v>
                </c:pt>
                <c:pt idx="2">
                  <c:v>TypeScript</c:v>
                </c:pt>
                <c:pt idx="3">
                  <c:v>SQL</c:v>
                </c:pt>
                <c:pt idx="4">
                  <c:v>HTML/CSS</c:v>
                </c:pt>
                <c:pt idx="5">
                  <c:v>Rust</c:v>
                </c:pt>
                <c:pt idx="6">
                  <c:v>Go</c:v>
                </c:pt>
                <c:pt idx="7">
                  <c:v>Java</c:v>
                </c:pt>
              </c:strCache>
            </c:strRef>
          </c:cat>
          <c:val>
            <c:numRef>
              <c:f>Sheet1!$B$2:$B$9</c:f>
              <c:numCache>
                <c:formatCode>General</c:formatCode>
                <c:ptCount val="8"/>
                <c:pt idx="0">
                  <c:v>58</c:v>
                </c:pt>
                <c:pt idx="1">
                  <c:v>55</c:v>
                </c:pt>
                <c:pt idx="2">
                  <c:v>46</c:v>
                </c:pt>
                <c:pt idx="3">
                  <c:v>45</c:v>
                </c:pt>
                <c:pt idx="4">
                  <c:v>44</c:v>
                </c:pt>
                <c:pt idx="5">
                  <c:v>38</c:v>
                </c:pt>
                <c:pt idx="6">
                  <c:v>36</c:v>
                </c:pt>
                <c:pt idx="7">
                  <c:v>26</c:v>
                </c:pt>
              </c:numCache>
            </c:numRef>
          </c:val>
        </c:ser>
        <c:dLbls>
          <c:numFmt formatCode="0&quot;%&quot;" sourceLinked="0"/>
          <c:txPr>
            <a:bodyPr/>
            <a:lstStyle/>
            <a:p>
              <a:pPr>
                <a:defRPr sz="1100">
                  <a:solidFill>
                    <a:srgbClr val="404040"/>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axMin"/>
        </c:scaling>
        <c:delete val="0"/>
        <c:axPos val="l"/>
        <c:majorTickMark val="none"/>
        <c:minorTickMark val="none"/>
        <c:tickLblPos val="nextTo"/>
        <c:spPr>
          <a:ln>
            <a:solidFill>
              <a:srgbClr val="D0D0D0"/>
            </a:solidFill>
          </a:ln>
        </c:spPr>
        <c:txPr>
          <a:bodyPr/>
          <a:lstStyle/>
          <a:p>
            <a:pPr>
              <a:defRPr sz="1100">
                <a:solidFill>
                  <a:srgbClr val="404040"/>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Current Year (%)</c:v>
                </c:pt>
              </c:strCache>
            </c:strRef>
          </c:tx>
          <c:spPr>
            <a:solidFill>
              <a:srgbClr val="2E867A"/>
            </a:solidFill>
            <a:ln>
              <a:noFill/>
            </a:ln>
          </c:spPr>
          <c:cat>
            <c:strRef>
              <c:f>Sheet1!$A$2:$A$9</c:f>
              <c:strCache>
                <c:ptCount val="8"/>
                <c:pt idx="0">
                  <c:v>MySQL</c:v>
                </c:pt>
                <c:pt idx="1">
                  <c:v>PostgreSQL</c:v>
                </c:pt>
                <c:pt idx="2">
                  <c:v>SQLite</c:v>
                </c:pt>
                <c:pt idx="3">
                  <c:v>MongoDB</c:v>
                </c:pt>
                <c:pt idx="4">
                  <c:v>Redis</c:v>
                </c:pt>
                <c:pt idx="5">
                  <c:v>MSSQL</c:v>
                </c:pt>
                <c:pt idx="6">
                  <c:v>Oracle</c:v>
                </c:pt>
                <c:pt idx="7">
                  <c:v>MariaDB</c:v>
                </c:pt>
              </c:strCache>
            </c:strRef>
          </c:cat>
          <c:val>
            <c:numRef>
              <c:f>Sheet1!$B$2:$B$9</c:f>
              <c:numCache>
                <c:formatCode>General</c:formatCode>
                <c:ptCount val="8"/>
                <c:pt idx="0">
                  <c:v>40</c:v>
                </c:pt>
                <c:pt idx="1">
                  <c:v>38</c:v>
                </c:pt>
                <c:pt idx="2">
                  <c:v>24</c:v>
                </c:pt>
                <c:pt idx="3">
                  <c:v>21</c:v>
                </c:pt>
                <c:pt idx="4">
                  <c:v>16</c:v>
                </c:pt>
                <c:pt idx="5">
                  <c:v>15</c:v>
                </c:pt>
                <c:pt idx="6">
                  <c:v>12</c:v>
                </c:pt>
                <c:pt idx="7">
                  <c:v>10</c:v>
                </c:pt>
              </c:numCache>
            </c:numRef>
          </c:val>
        </c:ser>
        <c:dLbls>
          <c:numFmt formatCode="0&quot;%&quot;" sourceLinked="0"/>
          <c:txPr>
            <a:bodyPr/>
            <a:lstStyle/>
            <a:p>
              <a:pPr>
                <a:defRPr sz="1100">
                  <a:solidFill>
                    <a:srgbClr val="404040"/>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axMin"/>
        </c:scaling>
        <c:delete val="0"/>
        <c:axPos val="l"/>
        <c:majorTickMark val="none"/>
        <c:minorTickMark val="none"/>
        <c:tickLblPos val="nextTo"/>
        <c:spPr>
          <a:ln>
            <a:solidFill>
              <a:srgbClr val="D0D0D0"/>
            </a:solidFill>
          </a:ln>
        </c:spPr>
        <c:txPr>
          <a:bodyPr/>
          <a:lstStyle/>
          <a:p>
            <a:pPr>
              <a:defRPr sz="1100">
                <a:solidFill>
                  <a:srgbClr val="404040"/>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Next Year (%)</c:v>
                </c:pt>
              </c:strCache>
            </c:strRef>
          </c:tx>
          <c:spPr>
            <a:solidFill>
              <a:srgbClr val="8E4EC6"/>
            </a:solidFill>
            <a:ln>
              <a:noFill/>
            </a:ln>
          </c:spPr>
          <c:cat>
            <c:strRef>
              <c:f>Sheet1!$A$2:$A$9</c:f>
              <c:strCache>
                <c:ptCount val="8"/>
                <c:pt idx="0">
                  <c:v>PostgreSQL</c:v>
                </c:pt>
                <c:pt idx="1">
                  <c:v>MySQL</c:v>
                </c:pt>
                <c:pt idx="2">
                  <c:v>MongoDB</c:v>
                </c:pt>
                <c:pt idx="3">
                  <c:v>Redis</c:v>
                </c:pt>
                <c:pt idx="4">
                  <c:v>SQLite</c:v>
                </c:pt>
                <c:pt idx="5">
                  <c:v>MSSQL</c:v>
                </c:pt>
                <c:pt idx="6">
                  <c:v>Oracle</c:v>
                </c:pt>
                <c:pt idx="7">
                  <c:v>MariaDB</c:v>
                </c:pt>
              </c:strCache>
            </c:strRef>
          </c:cat>
          <c:val>
            <c:numRef>
              <c:f>Sheet1!$B$2:$B$9</c:f>
              <c:numCache>
                <c:formatCode>General</c:formatCode>
                <c:ptCount val="8"/>
                <c:pt idx="0">
                  <c:v>49</c:v>
                </c:pt>
                <c:pt idx="1">
                  <c:v>34</c:v>
                </c:pt>
                <c:pt idx="2">
                  <c:v>26</c:v>
                </c:pt>
                <c:pt idx="3">
                  <c:v>22</c:v>
                </c:pt>
                <c:pt idx="4">
                  <c:v>20</c:v>
                </c:pt>
                <c:pt idx="5">
                  <c:v>13</c:v>
                </c:pt>
                <c:pt idx="6">
                  <c:v>9</c:v>
                </c:pt>
                <c:pt idx="7">
                  <c:v>8</c:v>
                </c:pt>
              </c:numCache>
            </c:numRef>
          </c:val>
        </c:ser>
        <c:dLbls>
          <c:numFmt formatCode="0&quot;%&quot;" sourceLinked="0"/>
          <c:txPr>
            <a:bodyPr/>
            <a:lstStyle/>
            <a:p>
              <a:pPr>
                <a:defRPr sz="1100">
                  <a:solidFill>
                    <a:srgbClr val="404040"/>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axMin"/>
        </c:scaling>
        <c:delete val="0"/>
        <c:axPos val="l"/>
        <c:majorTickMark val="none"/>
        <c:minorTickMark val="none"/>
        <c:tickLblPos val="nextTo"/>
        <c:spPr>
          <a:ln>
            <a:solidFill>
              <a:srgbClr val="D0D0D0"/>
            </a:solidFill>
          </a:ln>
        </c:spPr>
        <c:txPr>
          <a:bodyPr/>
          <a:lstStyle/>
          <a:p>
            <a:pPr>
              <a:defRPr sz="1100">
                <a:solidFill>
                  <a:srgbClr val="404040"/>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tags" Target="../tags/tag2.xml"/><Relationship Id="rId9" Type="http://schemas.openxmlformats.org/officeDocument/2006/relationships/image" Target="../media/image1.png"/><Relationship Id="rId10" Type="http://schemas.microsoft.com/office/2007/relationships/hdphoto" Target="../media/hdphoto1.wdp"/><Relationship Id="rId11" Type="http://schemas.openxmlformats.org/officeDocument/2006/relationships/image" Target="../media/image2.png"/><Relationship Id="rId12" Type="http://schemas.openxmlformats.org/officeDocument/2006/relationships/image" Target="../media/image3.svg"/><Relationship Id="rId13" Type="http://schemas.openxmlformats.org/officeDocument/2006/relationships/image" Target="../media/image4.png"/><Relationship Id="rId14" Type="http://schemas.openxmlformats.org/officeDocument/2006/relationships/image" Target="../media/image5.svg"/><Relationship Id="rId15" Type="http://schemas.openxmlformats.org/officeDocument/2006/relationships/image" Target="../media/image6.png"/><Relationship Id="rId16" Type="http://schemas.openxmlformats.org/officeDocument/2006/relationships/image" Target="../media/image7.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3.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2.xml"/><Relationship Id="rId3" Type="http://schemas.openxmlformats.org/officeDocument/2006/relationships/image" Target="../media/image9.png"/><Relationship Id="rId4" Type="http://schemas.openxmlformats.org/officeDocument/2006/relationships/customXml" Target="../ink/ink1.xml"/><Relationship Id="rId5" Type="http://schemas.openxmlformats.org/officeDocument/2006/relationships/image" Target="../media/image10.png"/><Relationship Id="rId6" Type="http://schemas.openxmlformats.org/officeDocument/2006/relationships/customXml" Target="../ink/ink2.xml"/><Relationship Id="rId7" Type="http://schemas.openxmlformats.org/officeDocument/2006/relationships/customXml" Target="../ink/ink3.xml"/><Relationship Id="rId8" Type="http://schemas.openxmlformats.org/officeDocument/2006/relationships/customXml" Target="../ink/ink4.xml"/><Relationship Id="rId9" Type="http://schemas.openxmlformats.org/officeDocument/2006/relationships/image" Target="../media/image11.png"/><Relationship Id="rId10" Type="http://schemas.openxmlformats.org/officeDocument/2006/relationships/customXml" Target="../ink/ink5.xml"/><Relationship Id="rId11" Type="http://schemas.openxmlformats.org/officeDocument/2006/relationships/customXml" Target="../ink/ink6.xml"/><Relationship Id="rId12" Type="http://schemas.openxmlformats.org/officeDocument/2006/relationships/customXml" Target="../ink/ink7.xml"/><Relationship Id="rId13" Type="http://schemas.openxmlformats.org/officeDocument/2006/relationships/customXml" Target="../ink/ink8.xml"/><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3.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3.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3.xml"/><Relationship Id="rId3" Type="http://schemas.openxmlformats.org/officeDocument/2006/relationships/image" Target="../media/image15.png"/><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3.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3.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3.xml"/><Relationship Id="rId3" Type="http://schemas.openxmlformats.org/officeDocument/2006/relationships/chart" Target="../charts/chart3.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3.xml"/><Relationship Id="rId3" Type="http://schemas.openxmlformats.org/officeDocument/2006/relationships/chart" Target="../charts/chart5.xml"/><Relationship Id="rId4" Type="http://schemas.openxmlformats.org/officeDocument/2006/relationships/chart" Target="../charts/chart6.xml"/></Relationships>
</file>

<file path=ppt/slides/_rels/slide12.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3.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3.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Layout" Target="../slideLayouts/slideLayout3.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Layout" Target="../slideLayouts/slideLayout3.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3.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Layout" Target="../slideLayouts/slideLayout3.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838200" y="552162"/>
            <a:ext cx="10515600" cy="611620"/>
          </a:xfrm>
        </p:spPr>
        <p:txBody>
          <a:bodyPr anchor="ctr">
            <a:noAutofit/>
          </a:bodyPr>
          <a:lstStyle/>
          <a:p>
            <a:r>
              <a:rPr lang="en-US" dirty="0"/>
              <a:t>Data Analyst Capstone Project Report</a:t>
            </a:r>
          </a:p>
        </p:txBody>
      </p:sp>
      <p:sp>
        <p:nvSpPr>
          <p:cNvPr id="3" name="Subtitle 2">
            <a:extLst>
              <a:ext uri="{FF2B5EF4-FFF2-40B4-BE49-F238E27FC236}">
                <a16:creationId xmlns:a16="http://schemas.microsoft.com/office/drawing/2014/main" id="{59DF6B8D-2BAC-11F8-7D28-B631D08C8D90}"/>
              </a:ext>
            </a:extLst>
          </p:cNvPr>
          <p:cNvSpPr>
            <a:spLocks noGrp="1"/>
          </p:cNvSpPr>
          <p:nvPr>
            <p:ph sz="half" idx="1"/>
          </p:nvPr>
        </p:nvSpPr>
        <p:spPr/>
        <p:txBody>
          <a:bodyPr>
            <a:normAutofit/>
          </a:bodyPr>
          <a:lstStyle/>
          <a:p>
            <a:pPr marL="0" indent="0">
              <a:buNone/>
            </a:pPr>
            <a:r>
              <a:rPr lang="en-US" dirty="0">
                <a:solidFill>
                  <a:schemeClr val="bg1">
                    <a:lumMod val="75000"/>
                  </a:schemeClr>
                </a:solidFill>
                <a:latin typeface="IBM Plex Mono Medium" panose="020B0609050203000203" pitchFamily="49" charset="0"/>
              </a:rPr>
              <a:t>Muhammad Maaz</a:t>
            </a:r>
          </a:p>
          <a:p>
            <a:pPr marL="0" indent="0">
              <a:buNone/>
            </a:pPr>
            <a:r>
              <a:rPr lang="en-US" dirty="0">
                <a:solidFill>
                  <a:schemeClr val="bg1">
                    <a:lumMod val="75000"/>
                  </a:schemeClr>
                </a:solidFill>
                <a:latin typeface="IBM Plex Mono Medium" panose="020B0609050203000203" pitchFamily="49" charset="0"/>
              </a:rPr>
              <a:t>July 11, 2026</a:t>
            </a:r>
          </a:p>
          <a:p>
            <a:endParaRPr lang="en-US" dirty="0"/>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389349" y="1630528"/>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b="1"/>
              <a:t>Languages</a:t>
            </a:r>
          </a:p>
          <a:p>
            <a:pPr lvl="1"/>
            <a:r>
              <a:rPr b="0"/>
              <a:t>Web technologies (JavaScript, HTML/CSS) lead current usage, but Python shows the strongest projected growth for next year.</a:t>
            </a:r>
          </a:p>
          <a:p>
            <a:pPr lvl="1"/>
            <a:r>
              <a:rPr b="0"/>
              <a:t>TypeScript is rapidly replacing vanilla JavaScript for large-scale development.</a:t>
            </a:r>
          </a:p>
          <a:p>
            <a:pPr/>
            <a:r>
              <a:rPr b="1"/>
              <a:t>Databases</a:t>
            </a:r>
          </a:p>
          <a:p>
            <a:pPr lvl="1"/>
            <a:r>
              <a:rPr b="0"/>
              <a:t>Relational databases remain the standard, though PostgreSQL is heavily preferred over MySQL for upcoming products.</a:t>
            </a:r>
          </a:p>
          <a:p>
            <a:pPr lvl="1"/>
            <a:r>
              <a:rPr b="0"/>
              <a:t>MongoDB leads the NoSQL landscape.</a:t>
            </a:r>
          </a:p>
          <a:p>
            <a:pPr/>
            <a:r>
              <a:rPr b="1"/>
              <a:t>Job Demand</a:t>
            </a:r>
          </a:p>
          <a:p>
            <a:pPr lvl="1"/>
            <a:r>
              <a:rPr b="0"/>
              <a:t>The market for data professionals is highly competitive, led by Software Engineer and Data Analyst postings.</a:t>
            </a:r>
          </a:p>
          <a:p>
            <a:pPr lvl="1"/>
            <a:r>
              <a:rPr b="0"/>
              <a:t>Premium salaries are commanded by specialized languages such as Scala, Go, and Rust.</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733926" y="2136507"/>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b="1"/>
              <a:t>Purpose of the Report</a:t>
            </a:r>
            <a:endParaRPr lang="en-US" sz="2200" dirty="0">
              <a:solidFill>
                <a:schemeClr val="bg1">
                  <a:lumMod val="75000"/>
                </a:schemeClr>
              </a:solidFill>
            </a:endParaRPr>
          </a:p>
          <a:p>
            <a:pPr lvl="1"/>
            <a:r>
              <a:rPr b="0"/>
              <a:t>Analyze the Stack Overflow Developer Survey dataset alongside active job postings to identify current usage, forecasted growth patterns, and developer demographics.</a:t>
            </a:r>
          </a:p>
          <a:p>
            <a:pPr/>
            <a:r>
              <a:rPr b="1"/>
              <a:t>Target Audience</a:t>
            </a:r>
          </a:p>
          <a:p>
            <a:pPr lvl="1"/>
            <a:r>
              <a:rPr b="0"/>
              <a:t>IT Executives &amp; CTOs, HR &amp; Recruiters, and Aspiring Data Analysts.</a:t>
            </a:r>
          </a:p>
          <a:p>
            <a:pPr/>
            <a:r>
              <a:rPr b="1"/>
              <a:t>Value of the Analysis</a:t>
            </a:r>
          </a:p>
          <a:p>
            <a:pPr lvl="1"/>
            <a:r>
              <a:rPr b="0"/>
              <a:t>Minimizes investment risk in declining legacy technology and maximizes recruiting efficiency with precise market pricing metrics across 80,000+ developers.</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681037"/>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b="1"/>
              <a:t>Data Sources</a:t>
            </a:r>
          </a:p>
          <a:p>
            <a:pPr lvl="1"/>
            <a:r>
              <a:rPr b="0"/>
              <a:t>Primary dataset from the Stack Overflow annual developer survey; secondary dataset from a simulated enterprise job listings API.</a:t>
            </a:r>
          </a:p>
          <a:p>
            <a:pPr/>
            <a:r>
              <a:rPr b="1"/>
              <a:t>Data Collection</a:t>
            </a:r>
          </a:p>
          <a:p>
            <a:pPr lvl="1"/>
            <a:r>
              <a:rPr b="0"/>
              <a:t>Ingested using Python scripts connecting to JSON/RESTful web APIs, alongside targeted web scraping using BeautifulSoup.</a:t>
            </a:r>
          </a:p>
          <a:p>
            <a:pPr/>
            <a:r>
              <a:rPr b="1"/>
              <a:t>Data Wrangling Steps</a:t>
            </a:r>
          </a:p>
          <a:p>
            <a:pPr lvl="1"/>
            <a:r>
              <a:rPr b="0"/>
              <a:t>Programmatic removal of duplicate responses, median imputation for null values, and uniform data-type normalization.</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9CC39-D393-D59D-E066-37C17FD3C522}"/>
              </a:ext>
            </a:extLst>
          </p:cNvPr>
          <p:cNvSpPr>
            <a:spLocks noGrp="1"/>
          </p:cNvSpPr>
          <p:nvPr>
            <p:ph type="title"/>
          </p:nvPr>
        </p:nvSpPr>
        <p:spPr>
          <a:xfrm>
            <a:off x="782053" y="398033"/>
            <a:ext cx="10571747" cy="1091735"/>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E000DDB6-5B82-F3F8-80C1-FE555825BAF5}"/>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t>The following slides present the job market and technology trend analysis.</a:t>
            </a:r>
            <a:endParaRPr lang="en-US" sz="2200" dirty="0"/>
          </a:p>
        </p:txBody>
      </p:sp>
      <p:pic>
        <p:nvPicPr>
          <p:cNvPr id="6" name="Graphic 5" descr="Presentation with pie chart with solid fill">
            <a:extLst>
              <a:ext uri="{FF2B5EF4-FFF2-40B4-BE49-F238E27FC236}">
                <a16:creationId xmlns:a16="http://schemas.microsoft.com/office/drawing/2014/main" id="{1D5615A7-55B9-E0F5-0A84-57A35A57B0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468" y="2101175"/>
            <a:ext cx="2972979" cy="2972979"/>
          </a:xfrm>
          <a:prstGeom prst="rect">
            <a:avLst/>
          </a:prstGeom>
        </p:spPr>
      </p:pic>
      <p:sp>
        <p:nvSpPr>
          <p:cNvPr id="8" name="TextBox 7">
            <a:extLst>
              <a:ext uri="{FF2B5EF4-FFF2-40B4-BE49-F238E27FC236}">
                <a16:creationId xmlns:a16="http://schemas.microsoft.com/office/drawing/2014/main" id="{9C6D1E5C-FB56-616C-9776-6EF59DA07045}"/>
              </a:ext>
            </a:extLst>
          </p:cNvPr>
          <p:cNvSpPr txBox="1"/>
          <p:nvPr/>
        </p:nvSpPr>
        <p:spPr>
          <a:xfrm>
            <a:off x="3818965" y="3126000"/>
            <a:ext cx="7413336" cy="461665"/>
          </a:xfrm>
          <a:prstGeom prst="rect">
            <a:avLst/>
          </a:prstGeom>
          <a:noFill/>
        </p:spPr>
        <p:txBody>
          <a:bodyPr wrap="square">
            <a:spAutoFit/>
          </a:bodyPr>
          <a:lstStyle/>
          <a:p>
            <a:pPr marL="0" indent="0">
              <a:buFont typeface="Arial"/>
              <a:buNone/>
            </a:pPr>
            <a:r>
              <a:rPr lang="en-US" sz="2400" dirty="0"/>
              <a:t>&lt;Please present your results in the following slides.&gt;</a:t>
            </a:r>
          </a:p>
        </p:txBody>
      </p:sp>
    </p:spTree>
    <p:custDataLst>
      <p:tags r:id="rId1"/>
    </p:custDataLst>
    <p:extLst>
      <p:ext uri="{BB962C8B-B14F-4D97-AF65-F5344CB8AC3E}">
        <p14:creationId xmlns:p14="http://schemas.microsoft.com/office/powerpoint/2010/main" val="150132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JOB POSTINGS</a:t>
            </a:r>
          </a:p>
        </p:txBody>
      </p:sp>
      <p:graphicFrame>
        <p:nvGraphicFramePr>
          <p:cNvPr id="10" name="Chart 9"/>
          <p:cNvGraphicFramePr>
            <a:graphicFrameLocks noGrp="1"/>
          </p:cNvGraphicFramePr>
          <p:nvPr/>
        </p:nvGraphicFramePr>
        <p:xfrm>
          <a:off x="914400" y="2191385"/>
          <a:ext cx="10489276" cy="2061182"/>
        </p:xfrm>
        <a:graphic>
          <a:graphicData uri="http://schemas.openxmlformats.org/drawingml/2006/chart">
            <c:chart xmlns:c="http://schemas.openxmlformats.org/drawingml/2006/chart" r:id="rId3"/>
          </a:graphicData>
        </a:graphic>
      </p:graphicFrame>
      <p:sp>
        <p:nvSpPr>
          <p:cNvPr id="11" name="TextBox 10"/>
          <p:cNvSpPr txBox="1"/>
          <p:nvPr/>
        </p:nvSpPr>
        <p:spPr>
          <a:xfrm>
            <a:off x="914400" y="4302567"/>
            <a:ext cx="10489276" cy="751571"/>
          </a:xfrm>
          <a:prstGeom prst="rect">
            <a:avLst/>
          </a:prstGeom>
          <a:noFill/>
        </p:spPr>
        <p:txBody>
          <a:bodyPr wrap="square">
            <a:spAutoFit/>
          </a:bodyPr>
          <a:lstStyle/>
          <a:p>
            <a:pPr>
              <a:defRPr sz="1400" i="1">
                <a:solidFill>
                  <a:srgbClr val="404040"/>
                </a:solidFill>
              </a:defRPr>
            </a:pPr>
            <a:r>
              <a:t>Software Engineer and Data Analyst roles lead current job postings, reflecting strong sustained demand for data-literate talent across the organization.</a:t>
            </a:r>
          </a:p>
        </p:txBody>
      </p:sp>
    </p:spTree>
    <p:custDataLst>
      <p:tags r:id="rId1"/>
    </p:custDataLst>
    <p:extLst>
      <p:ext uri="{BB962C8B-B14F-4D97-AF65-F5344CB8AC3E}">
        <p14:creationId xmlns:p14="http://schemas.microsoft.com/office/powerpoint/2010/main" val="193537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758536" y="383051"/>
            <a:ext cx="5708765" cy="1325563"/>
          </a:xfrm>
        </p:spPr>
        <p:txBody>
          <a:bodyPr anchor="ctr">
            <a:normAutofit/>
          </a:bodyPr>
          <a:lstStyle/>
          <a:p>
            <a:r>
              <a:rPr lang="en-US" dirty="0"/>
              <a:t>POPULAR LANGUAGES</a:t>
            </a:r>
          </a:p>
        </p:txBody>
      </p:sp>
      <p:graphicFrame>
        <p:nvGraphicFramePr>
          <p:cNvPr id="7" name="Chart 6"/>
          <p:cNvGraphicFramePr>
            <a:graphicFrameLocks noGrp="1"/>
          </p:cNvGraphicFramePr>
          <p:nvPr/>
        </p:nvGraphicFramePr>
        <p:xfrm>
          <a:off x="878305" y="2191385"/>
          <a:ext cx="10525371" cy="2061182"/>
        </p:xfrm>
        <a:graphic>
          <a:graphicData uri="http://schemas.openxmlformats.org/drawingml/2006/chart">
            <c:chart xmlns:c="http://schemas.openxmlformats.org/drawingml/2006/chart" r:id="rId3"/>
          </a:graphicData>
        </a:graphic>
      </p:graphicFrame>
      <p:sp>
        <p:nvSpPr>
          <p:cNvPr id="8" name="TextBox 7"/>
          <p:cNvSpPr txBox="1"/>
          <p:nvPr/>
        </p:nvSpPr>
        <p:spPr>
          <a:xfrm>
            <a:off x="878305" y="4302567"/>
            <a:ext cx="10525371" cy="751571"/>
          </a:xfrm>
          <a:prstGeom prst="rect">
            <a:avLst/>
          </a:prstGeom>
          <a:noFill/>
        </p:spPr>
        <p:txBody>
          <a:bodyPr wrap="square">
            <a:spAutoFit/>
          </a:bodyPr>
          <a:lstStyle/>
          <a:p>
            <a:pPr>
              <a:defRPr sz="1400" i="1">
                <a:solidFill>
                  <a:srgbClr val="404040"/>
                </a:solidFill>
              </a:defRPr>
            </a:pPr>
            <a:r>
              <a:t>Specialized backend languages such as Scala, Go, and Rust command the highest average salaries, rewarding scarce, high-performance engineering skills.</a:t>
            </a:r>
          </a:p>
        </p:txBody>
      </p:sp>
    </p:spTree>
    <p:custDataLst>
      <p:tags r:id="rId1"/>
    </p:custDataLst>
    <p:extLst>
      <p:ext uri="{BB962C8B-B14F-4D97-AF65-F5344CB8AC3E}">
        <p14:creationId xmlns:p14="http://schemas.microsoft.com/office/powerpoint/2010/main" val="1945902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924305" y="2063170"/>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2063170"/>
            <a:ext cx="1758142" cy="501939"/>
          </a:xfrm>
        </p:spPr>
        <p:txBody>
          <a:bodyPr/>
          <a:lstStyle/>
          <a:p>
            <a:pPr marL="0" indent="0">
              <a:buNone/>
            </a:pPr>
            <a:r>
              <a:rPr lang="en-US" dirty="0"/>
              <a:t>Next Year</a:t>
            </a:r>
          </a:p>
        </p:txBody>
      </p:sp>
      <p:sp>
        <p:nvSpPr>
          <p:cNvPr id="3" name="TextBox 2">
            <a:extLst>
              <a:ext uri="{FF2B5EF4-FFF2-40B4-BE49-F238E27FC236}">
                <a16:creationId xmlns:a16="http://schemas.microsoft.com/office/drawing/2014/main" id="{551C5862-9AB9-9679-23B5-A950E973AFB5}"/>
              </a:ext>
            </a:extLst>
          </p:cNvPr>
          <p:cNvSpPr txBox="1"/>
          <p:nvPr/>
        </p:nvSpPr>
        <p:spPr>
          <a:xfrm>
            <a:off x="924305" y="1475244"/>
            <a:ext cx="10429495" cy="461665"/>
          </a:xfrm>
          <a:prstGeom prst="rect">
            <a:avLst/>
          </a:prstGeom>
          <a:noFill/>
        </p:spPr>
        <p:txBody>
          <a:bodyPr wrap="square" rtlCol="0">
            <a:spAutoFit/>
          </a:bodyPr>
          <a:lstStyle/>
          <a:p>
            <a:r>
              <a:rPr lang="en-US" sz="2400" dirty="0"/>
              <a:t>JavaScript and HTML/CSS dominate current usage, but next year's forecast shows an enormous surge to 58% for Python, with strong preferences for TypeScript, Rust, and Go.</a:t>
            </a:r>
          </a:p>
        </p:txBody>
      </p:sp>
      <p:graphicFrame>
        <p:nvGraphicFramePr>
          <p:cNvPr id="10" name="Chart 9"/>
          <p:cNvGraphicFramePr>
            <a:graphicFrameLocks noGrp="1"/>
          </p:cNvGraphicFramePr>
          <p:nvPr/>
        </p:nvGraphicFramePr>
        <p:xfrm>
          <a:off x="845473" y="2605804"/>
          <a:ext cx="4614949" cy="3670301"/>
        </p:xfrm>
        <a:graphic>
          <a:graphicData uri="http://schemas.openxmlformats.org/drawingml/2006/chart">
            <c:chart xmlns:c="http://schemas.openxmlformats.org/drawingml/2006/chart" r:id="rId3"/>
          </a:graphicData>
        </a:graphic>
      </p:graphicFrame>
      <p:graphicFrame>
        <p:nvGraphicFramePr>
          <p:cNvPr id="11" name="Chart 10"/>
          <p:cNvGraphicFramePr>
            <a:graphicFrameLocks noGrp="1"/>
          </p:cNvGraphicFramePr>
          <p:nvPr/>
        </p:nvGraphicFramePr>
        <p:xfrm>
          <a:off x="6172200" y="2605804"/>
          <a:ext cx="4614949" cy="3670301"/>
        </p:xfrm>
        <a:graphic>
          <a:graphicData uri="http://schemas.openxmlformats.org/drawingml/2006/chart">
            <c:chart xmlns:c="http://schemas.openxmlformats.org/drawingml/2006/chart" r:id="rId4"/>
          </a:graphicData>
        </a:graphic>
      </p:graphicFrame>
    </p:spTree>
    <p:custDataLst>
      <p:tags r:id="rId1"/>
    </p:custDataLst>
    <p:extLst>
      <p:ext uri="{BB962C8B-B14F-4D97-AF65-F5344CB8AC3E}">
        <p14:creationId xmlns:p14="http://schemas.microsoft.com/office/powerpoint/2010/main" val="3684467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lstStyle/>
          <a:p>
            <a:pPr marL="0" indent="0">
              <a:buNone/>
            </a:pPr>
            <a:r>
              <a:rPr b="1"/>
              <a:t>Findings</a:t>
            </a:r>
          </a:p>
          <a:p>
            <a:pPr lvl="1"/>
            <a:r>
              <a:rPr b="0"/>
              <a:t>JavaScript holds legacy volume stability, but its growth is plateauing.</a:t>
            </a:r>
          </a:p>
          <a:p>
            <a:pPr lvl="1"/>
            <a:r>
              <a:rPr b="0"/>
              <a:t>Python is the clear favorite for upcoming architectures.</a:t>
            </a:r>
          </a:p>
          <a:p>
            <a:pPr lvl="1"/>
            <a:r>
              <a:rPr b="0"/>
              <a:t>Specialized tools such as Rust, Go, and Scala command highly skewed premium salaries.</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lstStyle/>
          <a:p>
            <a:pPr marL="0" indent="0">
              <a:buNone/>
            </a:pPr>
            <a:r>
              <a:rPr b="1"/>
              <a:t>Implications</a:t>
            </a:r>
          </a:p>
          <a:p>
            <a:pPr lvl="1"/>
            <a:r>
              <a:rPr b="0"/>
              <a:t>Maintain JavaScript/TypeScript investment for primary front-end needs.</a:t>
            </a:r>
          </a:p>
          <a:p>
            <a:pPr lvl="1"/>
            <a:r>
              <a:rPr b="0"/>
              <a:t>Direct professional development budgets toward internal Python upskilling.</a:t>
            </a:r>
          </a:p>
          <a:p>
            <a:pPr lvl="1"/>
            <a:r>
              <a:rPr b="0"/>
              <a:t>Allocate larger salary bands to attract and retain Rust/Go talent.</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2065128"/>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2065127"/>
            <a:ext cx="1758142" cy="501939"/>
          </a:xfrm>
        </p:spPr>
        <p:txBody>
          <a:bodyPr/>
          <a:lstStyle/>
          <a:p>
            <a:pPr marL="0" indent="0">
              <a:buNone/>
            </a:pPr>
            <a:r>
              <a:rPr lang="en-US" dirty="0"/>
              <a:t>Next Year</a:t>
            </a:r>
          </a:p>
        </p:txBody>
      </p:sp>
      <p:sp>
        <p:nvSpPr>
          <p:cNvPr id="7" name="TextBox 6">
            <a:extLst>
              <a:ext uri="{FF2B5EF4-FFF2-40B4-BE49-F238E27FC236}">
                <a16:creationId xmlns:a16="http://schemas.microsoft.com/office/drawing/2014/main" id="{917A0CDF-0FE0-1DE3-5B09-44D4318623B8}"/>
              </a:ext>
            </a:extLst>
          </p:cNvPr>
          <p:cNvSpPr txBox="1"/>
          <p:nvPr/>
        </p:nvSpPr>
        <p:spPr>
          <a:xfrm>
            <a:off x="881252" y="1476527"/>
            <a:ext cx="10429495" cy="461665"/>
          </a:xfrm>
          <a:prstGeom prst="rect">
            <a:avLst/>
          </a:prstGeom>
          <a:noFill/>
        </p:spPr>
        <p:txBody>
          <a:bodyPr wrap="square" rtlCol="0">
            <a:spAutoFit/>
          </a:bodyPr>
          <a:lstStyle/>
          <a:p>
            <a:r>
              <a:rPr lang="en-US" sz="2400" dirty="0"/>
              <a:t>MySQL leads active production deployments at 40%, followed by PostgreSQL at 38%. Next year's desired platforms show PostgreSQL heavily overtaking MySQL, alongside steady growth for MongoDB and Redis.</a:t>
            </a:r>
          </a:p>
        </p:txBody>
      </p:sp>
      <p:graphicFrame>
        <p:nvGraphicFramePr>
          <p:cNvPr id="8" name="Chart 7"/>
          <p:cNvGraphicFramePr>
            <a:graphicFrameLocks noGrp="1"/>
          </p:cNvGraphicFramePr>
          <p:nvPr/>
        </p:nvGraphicFramePr>
        <p:xfrm>
          <a:off x="813816" y="2758931"/>
          <a:ext cx="4614949" cy="3670301"/>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6172200" y="2695286"/>
          <a:ext cx="4614949" cy="3670301"/>
        </p:xfrm>
        <a:graphic>
          <a:graphicData uri="http://schemas.openxmlformats.org/drawingml/2006/chart">
            <c:chart xmlns:c="http://schemas.openxmlformats.org/drawingml/2006/chart" r:id="rId4"/>
          </a:graphicData>
        </a:graphic>
      </p:graphicFrame>
    </p:spTree>
    <p:custDataLst>
      <p:tags r:id="rId1"/>
    </p:custDataLst>
    <p:extLst>
      <p:ext uri="{BB962C8B-B14F-4D97-AF65-F5344CB8AC3E}">
        <p14:creationId xmlns:p14="http://schemas.microsoft.com/office/powerpoint/2010/main" val="150288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lstStyle/>
          <a:p>
            <a:pPr marL="0" indent="0">
              <a:buNone/>
            </a:pPr>
            <a:r>
              <a:rPr b="1"/>
              <a:t>Findings</a:t>
            </a:r>
          </a:p>
          <a:p>
            <a:pPr lvl="1"/>
            <a:r>
              <a:rPr b="0"/>
              <a:t>MySQL and PostgreSQL jointly command the relational database domain today.</a:t>
            </a:r>
          </a:p>
          <a:p>
            <a:pPr lvl="1"/>
            <a:r>
              <a:rPr b="0"/>
              <a:t>An active shift is underway toward PostgreSQL for its advanced feature set.</a:t>
            </a:r>
          </a:p>
          <a:p>
            <a:pPr lvl="1"/>
            <a:r>
              <a:rPr b="0"/>
              <a:t>MongoDB remains the undisputed leader in NoSQL adoption.</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lstStyle/>
          <a:p>
            <a:pPr marL="0" indent="0">
              <a:buNone/>
            </a:pPr>
            <a:r>
              <a:rPr b="1"/>
              <a:t>Implications</a:t>
            </a:r>
          </a:p>
          <a:p>
            <a:pPr lvl="1"/>
            <a:r>
              <a:rPr b="0"/>
              <a:t>Default to PostgreSQL for future relational implementations.</a:t>
            </a:r>
          </a:p>
          <a:p>
            <a:pPr lvl="1"/>
            <a:r>
              <a:rPr b="0"/>
              <a:t>Incorporate MongoDB for high-scale, unstructured data services.</a:t>
            </a:r>
          </a:p>
          <a:p>
            <a:pPr lvl="1"/>
            <a:r>
              <a:rPr b="0"/>
              <a:t>Train engineering staff on robust SQL-to-PostgreSQL schema migration.</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0"/>
            <a:ext cx="706872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t>The following slides present the interactive BI dashboard across three tabs.</a:t>
            </a: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706582" y="365125"/>
            <a:ext cx="11087100" cy="985693"/>
          </a:xfrm>
        </p:spPr>
        <p:txBody>
          <a:bodyPr anchor="ctr">
            <a:noAutofit/>
          </a:bodyPr>
          <a:lstStyle/>
          <a:p>
            <a:r>
              <a:rPr lang="en-US" dirty="0"/>
              <a:t>DASHBOARD TAB 1: Current Technology Usage</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sz="half" idx="1"/>
          </p:nvPr>
        </p:nvSpPr>
        <p:spPr>
          <a:xfrm>
            <a:off x="838200" y="4508517"/>
            <a:ext cx="10515600" cy="1533509"/>
          </a:xfrm>
        </p:spPr>
        <p:txBody>
          <a:bodyPr/>
          <a:lstStyle/>
          <a:p>
            <a:pPr marL="0" indent="0">
              <a:buNone/>
            </a:pPr>
            <a:r>
              <a:rPr b="1"/>
              <a:t>Dashboard Insight</a:t>
            </a:r>
            <a:endParaRPr lang="en-US" dirty="0"/>
          </a:p>
          <a:p>
            <a:pPr lvl="1"/>
            <a:r>
              <a:rPr b="0"/>
              <a:t>High concentration of legacy relational storage models and heavy volume across front-end web design libraries.</a:t>
            </a:r>
          </a:p>
          <a:p>
            <a:pPr lvl="1"/>
            <a:r>
              <a:rPr b="0"/>
              <a:t>High enterprise inertia around SQL guarantees long-term legacy product viability.</a:t>
            </a:r>
          </a:p>
        </p:txBody>
      </p:sp>
      <p:pic>
        <p:nvPicPr>
          <p:cNvPr id="4" name="Picture 3" descr="dash_tab1.png"/>
          <p:cNvPicPr>
            <a:picLocks noChangeAspect="1"/>
          </p:cNvPicPr>
          <p:nvPr/>
        </p:nvPicPr>
        <p:blipFill>
          <a:blip r:embed="rId3"/>
          <a:stretch>
            <a:fillRect/>
          </a:stretch>
        </p:blipFill>
        <p:spPr>
          <a:xfrm>
            <a:off x="838200" y="1690688"/>
            <a:ext cx="10515600" cy="2697829"/>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727364" y="531380"/>
            <a:ext cx="11055926" cy="1016866"/>
          </a:xfrm>
        </p:spPr>
        <p:txBody>
          <a:bodyPr anchor="ctr">
            <a:normAutofit fontScale="90000"/>
          </a:bodyPr>
          <a:lstStyle/>
          <a:p>
            <a:r>
              <a:rPr lang="en-US" dirty="0"/>
              <a:t>DASHBOARD TAB 2: Future Technology Trends</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sz="half" idx="1"/>
          </p:nvPr>
        </p:nvSpPr>
        <p:spPr>
          <a:xfrm>
            <a:off x="838200" y="4508517"/>
            <a:ext cx="10515600" cy="1533509"/>
          </a:xfrm>
        </p:spPr>
        <p:txBody>
          <a:bodyPr/>
          <a:lstStyle/>
          <a:p>
            <a:pPr marL="0" indent="0">
              <a:buNone/>
            </a:pPr>
            <a:r>
              <a:rPr b="1"/>
              <a:t>Dashboard Insight</a:t>
            </a:r>
            <a:endParaRPr lang="en-US" dirty="0"/>
          </a:p>
          <a:p>
            <a:pPr lvl="1"/>
            <a:r>
              <a:rPr b="0"/>
              <a:t>Accelerating drift toward cloud-native ecosystems and strong future demand for typed systems (TypeScript).</a:t>
            </a:r>
          </a:p>
          <a:p>
            <a:pPr lvl="1"/>
            <a:r>
              <a:rPr b="0"/>
              <a:t>Signals a future focus on performance and systems scalability.</a:t>
            </a:r>
          </a:p>
        </p:txBody>
      </p:sp>
      <p:pic>
        <p:nvPicPr>
          <p:cNvPr id="4" name="Picture 3" descr="dash_tab2.png"/>
          <p:cNvPicPr>
            <a:picLocks noChangeAspect="1"/>
          </p:cNvPicPr>
          <p:nvPr/>
        </p:nvPicPr>
        <p:blipFill>
          <a:blip r:embed="rId3"/>
          <a:stretch>
            <a:fillRect/>
          </a:stretch>
        </p:blipFill>
        <p:spPr>
          <a:xfrm>
            <a:off x="838200" y="1690688"/>
            <a:ext cx="10515600" cy="2697829"/>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p:txBody>
          <a:bodyPr anchor="ctr">
            <a:normAutofit/>
          </a:bodyPr>
          <a:lstStyle/>
          <a:p>
            <a:r>
              <a:rPr lang="en-US" dirty="0"/>
              <a:t>DASHBOARD TAB 3: Demographics</a:t>
            </a:r>
          </a:p>
        </p:txBody>
      </p:sp>
      <p:sp>
        <p:nvSpPr>
          <p:cNvPr id="3" name="Content Placeholder 2">
            <a:extLst>
              <a:ext uri="{FF2B5EF4-FFF2-40B4-BE49-F238E27FC236}">
                <a16:creationId xmlns:a16="http://schemas.microsoft.com/office/drawing/2014/main" id="{84961A98-8DF3-E66E-19C4-7D7642551E90}"/>
              </a:ext>
            </a:extLst>
          </p:cNvPr>
          <p:cNvSpPr>
            <a:spLocks noGrp="1"/>
          </p:cNvSpPr>
          <p:nvPr>
            <p:ph sz="half" idx="1"/>
          </p:nvPr>
        </p:nvSpPr>
        <p:spPr>
          <a:xfrm>
            <a:off x="838200" y="4508517"/>
            <a:ext cx="10515600" cy="1533509"/>
          </a:xfrm>
        </p:spPr>
        <p:txBody>
          <a:bodyPr/>
          <a:lstStyle/>
          <a:p>
            <a:pPr marL="0" indent="0">
              <a:buNone/>
            </a:pPr>
            <a:r>
              <a:rPr b="1"/>
              <a:t>Dashboard Insight</a:t>
            </a:r>
            <a:endParaRPr lang="en-US" dirty="0"/>
          </a:p>
          <a:p>
            <a:pPr lvl="1"/>
            <a:r>
              <a:rPr b="0"/>
              <a:t>Majority segment concentrated in the 25-34 age range with high formal education levels.</a:t>
            </a:r>
          </a:p>
          <a:p>
            <a:pPr lvl="1"/>
            <a:r>
              <a:rPr b="0"/>
              <a:t>Signals a young, highly educated, and dynamically mobile global workforce.</a:t>
            </a:r>
          </a:p>
        </p:txBody>
      </p:sp>
      <p:pic>
        <p:nvPicPr>
          <p:cNvPr id="4" name="Picture 3" descr="dash_tab3.png"/>
          <p:cNvPicPr>
            <a:picLocks noChangeAspect="1"/>
          </p:cNvPicPr>
          <p:nvPr/>
        </p:nvPicPr>
        <p:blipFill>
          <a:blip r:embed="rId3"/>
          <a:stretch>
            <a:fillRect/>
          </a:stretch>
        </p:blipFill>
        <p:spPr>
          <a:xfrm>
            <a:off x="838200" y="1690688"/>
            <a:ext cx="10515600" cy="2697829"/>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143282" y="2348628"/>
            <a:ext cx="3054361" cy="3054361"/>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5081155" y="1825625"/>
            <a:ext cx="6272645" cy="4351338"/>
          </a:xfrm>
        </p:spPr>
        <p:txBody>
          <a:bodyPr/>
          <a:lstStyle/>
          <a:p>
            <a:r>
              <a:rPr lang="en-US" dirty="0"/>
              <a:t>The intersection of our data highlights a critical transition phase: balancing operational maintenance against functional modernization. Standard frameworks remain critical for business continuity, but modern investments heavily prioritize Python and PostgreSQL environments. Compensation models must adjust to attract elite talent for specialized tools.</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a:normAutofit/>
          </a:bodyPr>
          <a:lstStyle/>
          <a:p>
            <a:pPr marL="0" indent="0">
              <a:buNone/>
            </a:pPr>
            <a:r>
              <a:rPr b="1"/>
              <a:t>Findings</a:t>
            </a:r>
          </a:p>
          <a:p>
            <a:pPr lvl="1"/>
            <a:r>
              <a:rPr b="0"/>
              <a:t>Tech stacks are splitting cleanly between classic web execution and data-driven engines.</a:t>
            </a:r>
          </a:p>
          <a:p>
            <a:pPr lvl="1"/>
            <a:r>
              <a:rPr b="0"/>
              <a:t>PostgreSQL is outpacing aging SQL standards.</a:t>
            </a:r>
          </a:p>
          <a:p>
            <a:pPr lvl="1"/>
            <a:r>
              <a:rPr b="0"/>
              <a:t>Premium pay is tied tightly to niche backend languages.</a:t>
            </a:r>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5"/>
            <a:ext cx="5181600" cy="4351338"/>
          </a:xfrm>
        </p:spPr>
        <p:txBody>
          <a:bodyPr>
            <a:normAutofit/>
          </a:bodyPr>
          <a:lstStyle/>
          <a:p>
            <a:pPr marL="0" indent="0">
              <a:buNone/>
            </a:pPr>
            <a:r>
              <a:rPr b="1"/>
              <a:t>Implications</a:t>
            </a:r>
          </a:p>
          <a:p>
            <a:pPr lvl="1"/>
            <a:r>
              <a:rPr b="0"/>
              <a:t>Adopt a deliberate polyglot programming approach.</a:t>
            </a:r>
          </a:p>
          <a:p>
            <a:pPr lvl="1"/>
            <a:r>
              <a:rPr b="0"/>
              <a:t>Formulate aggressive legacy SQL migration schedules targeting PostgreSQL.</a:t>
            </a:r>
          </a:p>
          <a:p>
            <a:pPr lvl="1"/>
            <a:r>
              <a:rPr b="0"/>
              <a:t>Systematically adjust talent compensation bands based on language specialization metrics.</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r>
              <a:rPr b="0"/>
              <a:t>Successfully demonstrated end-to-end data processing pipelines.</a:t>
            </a:r>
          </a:p>
          <a:p>
            <a:pPr/>
            <a:r>
              <a:rPr b="0"/>
              <a:t>Python and PostgreSQL remain foundational targets for technical modernization.</a:t>
            </a:r>
          </a:p>
          <a:p>
            <a:pPr/>
            <a:r>
              <a:rPr b="0"/>
              <a:t>Aligning development platforms with developer preferences minimizes hiring friction.</a:t>
            </a:r>
          </a:p>
          <a:p>
            <a:pPr/>
            <a:r>
              <a:rPr b="0"/>
              <a:t>BI dashboards effectively translate market metrics into executable strategy.</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r>
              <a:rPr b="1"/>
              <a:t>Supplementary Materials</a:t>
            </a:r>
            <a:endParaRPr lang="en-US" dirty="0"/>
          </a:p>
          <a:p>
            <a:pPr lvl="1"/>
            <a:r>
              <a:rPr b="0"/>
              <a:t>Full top-10 programming language and database usage tables (current vs. next year).</a:t>
            </a:r>
          </a:p>
          <a:p>
            <a:pPr lvl="1"/>
            <a:r>
              <a:rPr b="0"/>
              <a:t>Data wrangling script excerpt: duplicate removal, median imputation, and type normalization.</a:t>
            </a:r>
          </a:p>
          <a:p>
            <a:pPr lvl="1"/>
            <a:r>
              <a:rPr b="0"/>
              <a:t>Additional job-posting and salary breakdowns by role and language.</a:t>
            </a:r>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68</TotalTime>
  <Words>432</Words>
  <Application>Microsoft Office PowerPoint</Application>
  <PresentationFormat>Widescreen</PresentationFormat>
  <Paragraphs>117</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Helv</vt:lpstr>
      <vt:lpstr>IBM Plex Mono</vt:lpstr>
      <vt:lpstr>IBM Plex Mono Medium</vt:lpstr>
      <vt:lpstr>IBM Plex Sans</vt:lpstr>
      <vt:lpstr>IBM Plex Sans SemiBold</vt:lpstr>
      <vt:lpstr>SLIDE_TEMPLATE_skill_network</vt:lpstr>
      <vt:lpstr>Title</vt:lpstr>
      <vt:lpstr>PowerPoint Presentation</vt:lpstr>
      <vt:lpstr>EXECUTIVE SUMMARY</vt:lpstr>
      <vt:lpstr>INTRODUCTION</vt:lpstr>
      <vt:lpstr>METHODOLOGY</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vt:lpstr>
      <vt:lpstr>DASHBOARD TAB 1: Current Technology Usage</vt:lpstr>
      <vt:lpstr>DASHBOARD TAB 2: Future Technology Trends</vt:lpstr>
      <vt:lpstr>DASHBOARD TAB 3: Demographics</vt:lpstr>
      <vt:lpstr>DISCUSSION</vt:lpstr>
      <vt:lpstr>OVERALL FINDINGS &amp; IMPLICATIONS</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pratiksha verma</cp:lastModifiedBy>
  <cp:revision>5</cp:revision>
  <dcterms:created xsi:type="dcterms:W3CDTF">2024-10-30T05:40:03Z</dcterms:created>
  <dcterms:modified xsi:type="dcterms:W3CDTF">2026-01-15T06:53:23Z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